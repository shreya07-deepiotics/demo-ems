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60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5.png"/><Relationship Id="rId4" Type="http://schemas.openxmlformats.org/officeDocument/2006/relationships/image" Target="../media/image6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937760" cy="493776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457200"/>
            <a:ext cx="2743200" cy="2743200"/>
          </a:xfrm>
          <a:prstGeom prst="ellipse">
            <a:avLst/>
          </a:prstGeom>
          <a:solidFill>
            <a:srgbClr val="C1922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5120640"/>
            <a:ext cx="4206240" cy="4206240"/>
          </a:xfrm>
          <a:prstGeom prst="ellipse">
            <a:avLst/>
          </a:prstGeom>
          <a:solidFill>
            <a:srgbClr val="24486E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PRESENTS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98755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Store Never Closes.</a:t>
            </a:r>
            <a:endParaRPr lang="en-US" sz="5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Profit Never Sleeps.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343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online store, built for you — run it yourself, or let us run it for you.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5074920"/>
            <a:ext cx="82296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every business is an owner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built something worth buying.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…but online, most of them are invisible.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468880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2597262"/>
            <a:ext cx="218724" cy="2187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2423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can't find you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280160" y="272491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search online before they buy. If your store isn't there, they buy from someone who is.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94360" y="3675888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2" y="3804270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363016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needs a developer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1280160" y="393192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a price or a product photo means calling someone, waiting days, and paying again.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94360" y="4882896"/>
            <a:ext cx="475488" cy="47548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42" y="5011278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48371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eat your profit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280160" y="51389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 only through big platforms means a commission taken from every single sale.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858000" y="2148840"/>
            <a:ext cx="4709160" cy="3337560"/>
          </a:xfrm>
          <a:prstGeom prst="roundRect">
            <a:avLst>
              <a:gd name="adj" fmla="val 2466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60604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246120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build your web solution —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that takes your business</a:t>
            </a:r>
            <a:endParaRPr lang="en-US" sz="2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customers worldwide.</a:t>
            </a:r>
            <a:endParaRPr lang="en-US" sz="2000" dirty="0"/>
          </a:p>
        </p:txBody>
      </p:sp>
      <p:sp>
        <p:nvSpPr>
          <p:cNvPr id="22" name="Text 16"/>
          <p:cNvSpPr/>
          <p:nvPr/>
        </p:nvSpPr>
        <p:spPr>
          <a:xfrm>
            <a:off x="7269480" y="4892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DEEPIOTICS STANDARD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AT SCALE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Shoppers have moved online. Most stores haven't kept up.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75%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50392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shoppers judge whether to trust a business by its website design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0392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Stanford Web Credibility Research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92424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21024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648456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mobile shoppers leave if a page takes over 3 seconds to load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48456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Google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90488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446520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shopping carts are abandoned — usually due to a clumsy checkout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46520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Baymard Institute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988552" y="1965960"/>
            <a:ext cx="2615184" cy="324612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17152" y="2377440"/>
            <a:ext cx="21579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C1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244584" y="3337560"/>
            <a:ext cx="2103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shoppers won't recommend a business with a poor mobile site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44584" y="4709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SuperMonitoring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94360" y="562356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research: Stanford University, Google mobile-speed research, Baymard Institute checkout studies, and SuperMonitoring mobile UX data.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COSTS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selling without your own store really costs you.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898" y="2340498"/>
            <a:ext cx="201900" cy="2019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on developers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8680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small change is billable, slow, and completely out of your hands.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15968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0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506" y="2340498"/>
            <a:ext cx="201900" cy="201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on Google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0288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not on the first page, competitors quietly take your customers.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037576" y="1965960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93608" y="2221992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114" y="2340498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78824" y="222199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Clumsy on mobile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11896" y="283464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people shop on their phone. If checkout feels hard, they simply quit.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94360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850392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898" y="4370466"/>
            <a:ext cx="201900" cy="2019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35608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on every sale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68680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take their cut first. Your margin shrinks with every order.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4315968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72000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506" y="4370466"/>
            <a:ext cx="201900" cy="2019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57216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watching the site</a:t>
            </a:r>
            <a:endParaRPr lang="en-US" sz="1450" dirty="0"/>
          </a:p>
        </p:txBody>
      </p:sp>
      <p:sp>
        <p:nvSpPr>
          <p:cNvPr id="30" name="Text 23"/>
          <p:cNvSpPr/>
          <p:nvPr/>
        </p:nvSpPr>
        <p:spPr>
          <a:xfrm>
            <a:off x="4590288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unwatched store slows down, breaks, and becomes a security risk.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8037576" y="3995928"/>
            <a:ext cx="3547872" cy="1810512"/>
          </a:xfrm>
          <a:prstGeom prst="roundRect">
            <a:avLst>
              <a:gd name="adj" fmla="val 404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293608" y="4251960"/>
            <a:ext cx="438912" cy="438912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2114" y="4370466"/>
            <a:ext cx="201900" cy="2019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78824" y="4251960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stays manual</a:t>
            </a:r>
            <a:endParaRPr lang="en-US" sz="1450" dirty="0"/>
          </a:p>
        </p:txBody>
      </p:sp>
      <p:sp>
        <p:nvSpPr>
          <p:cNvPr id="35" name="Text 27"/>
          <p:cNvSpPr/>
          <p:nvPr/>
        </p:nvSpPr>
        <p:spPr>
          <a:xfrm>
            <a:off x="8311896" y="486460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payments, delivery, or order tracking connected — so selling stays hard work.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agencies deliver vs. what your store actually needs.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EDE6D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MOST AGENCIES DELIVER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94960" cy="3977640"/>
          </a:xfrm>
          <a:prstGeom prst="roundRect">
            <a:avLst>
              <a:gd name="adj" fmla="val 2069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22128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BUSINESS ACTUALLY NEEDS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77063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44168" y="2743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with your logo dropped in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39242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3364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invoice, disappear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014216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44168" y="39867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SEO plugin installed — never set up</a:t>
            </a:r>
            <a:endParaRPr lang="en-US" sz="13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63600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44168" y="46085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training, no documentation</a:t>
            </a:r>
            <a:endParaRPr lang="en-US" sz="13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257800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344168" y="52303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quote for every small change</a:t>
            </a:r>
            <a:endParaRPr lang="en-US" sz="13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2770632"/>
            <a:ext cx="219456" cy="21945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967728" y="27432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store designed around your products and brand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3392424"/>
            <a:ext cx="219456" cy="219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967728" y="33649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who stays — or a true handover</a:t>
            </a:r>
            <a:endParaRPr lang="en-US" sz="13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014216"/>
            <a:ext cx="219456" cy="219456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967728" y="39867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Google shows you to real shoppers</a:t>
            </a:r>
            <a:endParaRPr lang="en-US" sz="13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636008"/>
            <a:ext cx="219456" cy="219456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6967728" y="46085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simple guides, and real ownership</a:t>
            </a:r>
            <a:endParaRPr lang="en-US" sz="13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5257800"/>
            <a:ext cx="219456" cy="219456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6967728" y="52303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costs you can plan around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BETTER WAY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way vs. the Deepiotics way.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9A8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355080" y="158191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DEEPIOTICS WAY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6596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template store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2212848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17920" y="1965960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1965960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and fully on-brand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4360" y="2798064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79806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control over your own store</a:t>
            </a:r>
            <a:endParaRPr lang="en-US" sz="13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044952"/>
            <a:ext cx="256032" cy="25603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17920" y="2798064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492240" y="2798064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panel — edit anything, anytime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594360" y="3630168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3630168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handoff, then silence</a:t>
            </a:r>
            <a:endParaRPr lang="en-US" sz="1300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3877056"/>
            <a:ext cx="256032" cy="256032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217920" y="3630168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17"/>
          <p:cNvSpPr/>
          <p:nvPr/>
        </p:nvSpPr>
        <p:spPr>
          <a:xfrm>
            <a:off x="6492240" y="3630168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 who stays as you grow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594360" y="4462272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24" name="Text 19"/>
          <p:cNvSpPr/>
          <p:nvPr/>
        </p:nvSpPr>
        <p:spPr>
          <a:xfrm>
            <a:off x="868680" y="446227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shoppers somehow find you</a:t>
            </a:r>
            <a:endParaRPr lang="en-US" sz="13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4709160"/>
            <a:ext cx="256032" cy="25603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6217920" y="4462272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6492240" y="4462272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rank on Google from day one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94360" y="5294376"/>
            <a:ext cx="4709160" cy="749808"/>
          </a:xfrm>
          <a:prstGeom prst="roundRect">
            <a:avLst>
              <a:gd name="adj" fmla="val 8537"/>
            </a:avLst>
          </a:prstGeom>
          <a:solidFill>
            <a:srgbClr val="EDE6D6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5294376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orders and payments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712" y="5541264"/>
            <a:ext cx="256032" cy="256032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6217920" y="5294376"/>
            <a:ext cx="5257800" cy="749808"/>
          </a:xfrm>
          <a:prstGeom prst="roundRect">
            <a:avLst>
              <a:gd name="adj" fmla="val 8537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Text 25"/>
          <p:cNvSpPr/>
          <p:nvPr/>
        </p:nvSpPr>
        <p:spPr>
          <a:xfrm>
            <a:off x="6492240" y="5294376"/>
            <a:ext cx="4709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delivery &amp; tracking built 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TWO SERVICE MODELS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 — or let us run it. You choose.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194560"/>
            <a:ext cx="512064" cy="51206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57" y="2332817"/>
            <a:ext cx="235549" cy="2355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81912" y="2185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581912" y="2404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Self-Managed (CMS)</a:t>
            </a:r>
            <a:endParaRPr lang="en-US" sz="1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072384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71016" y="3044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online store, custom built</a:t>
            </a:r>
            <a:endParaRPr lang="en-US" sz="12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47472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71016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photos, prices &amp; descriptions yourself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87705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71016" y="38496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products &amp; categories in minutes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79392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71016" y="4251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session + simple how-to guide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681728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71016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 — store, code &amp; content</a:t>
            </a:r>
            <a:endParaRPr lang="en-US" sz="125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5084064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271016" y="50566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7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post-launch support included</a:t>
            </a:r>
            <a:endParaRPr lang="en-US" sz="1250" dirty="0"/>
          </a:p>
        </p:txBody>
      </p:sp>
      <p:sp>
        <p:nvSpPr>
          <p:cNvPr id="23" name="Text 14"/>
          <p:cNvSpPr/>
          <p:nvPr/>
        </p:nvSpPr>
        <p:spPr>
          <a:xfrm>
            <a:off x="96012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teams that want full day-to-day control.</a:t>
            </a:r>
            <a:endParaRPr lang="en-US" sz="1150" dirty="0"/>
          </a:p>
        </p:txBody>
      </p:sp>
      <p:sp>
        <p:nvSpPr>
          <p:cNvPr id="24" name="Shape 15"/>
          <p:cNvSpPr/>
          <p:nvPr/>
        </p:nvSpPr>
        <p:spPr>
          <a:xfrm>
            <a:off x="6217920" y="1874520"/>
            <a:ext cx="5394960" cy="4160520"/>
          </a:xfrm>
          <a:prstGeom prst="roundRect">
            <a:avLst>
              <a:gd name="adj" fmla="val 1978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16"/>
          <p:cNvSpPr/>
          <p:nvPr/>
        </p:nvSpPr>
        <p:spPr>
          <a:xfrm>
            <a:off x="6537960" y="2194560"/>
            <a:ext cx="512064" cy="512064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6217" y="2332817"/>
            <a:ext cx="235549" cy="235549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205472" y="21854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50" dirty="0"/>
          </a:p>
        </p:txBody>
      </p:sp>
      <p:sp>
        <p:nvSpPr>
          <p:cNvPr id="28" name="Text 18"/>
          <p:cNvSpPr/>
          <p:nvPr/>
        </p:nvSpPr>
        <p:spPr>
          <a:xfrm>
            <a:off x="7205472" y="2404872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Yearly Maintenance Plan</a:t>
            </a:r>
            <a:endParaRPr lang="en-US" sz="19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072384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894576" y="30449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the Self-Managed model</a:t>
            </a:r>
            <a:endParaRPr lang="en-US" sz="125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474720"/>
            <a:ext cx="182880" cy="18288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6894576" y="3447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update handled by our team</a:t>
            </a:r>
            <a:endParaRPr lang="en-US" sz="125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877056"/>
            <a:ext cx="182880" cy="182880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6894576" y="3849624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checks &amp; speed monitoring</a:t>
            </a:r>
            <a:endParaRPr lang="en-US" sz="125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279392"/>
            <a:ext cx="182880" cy="182880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6894576" y="425196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reports — sales, visitors, health</a:t>
            </a:r>
            <a:endParaRPr lang="en-US" sz="1250" dirty="0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681728"/>
            <a:ext cx="182880" cy="182880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894576" y="4654296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support with guaranteed response</a:t>
            </a:r>
            <a:endParaRPr lang="en-US" sz="125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5084064"/>
            <a:ext cx="182880" cy="182880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6894576" y="505663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 added as your store grows</a:t>
            </a:r>
            <a:endParaRPr lang="en-US" sz="1250" dirty="0"/>
          </a:p>
        </p:txBody>
      </p:sp>
      <p:sp>
        <p:nvSpPr>
          <p:cNvPr id="41" name="Text 25"/>
          <p:cNvSpPr/>
          <p:nvPr/>
        </p:nvSpPr>
        <p:spPr>
          <a:xfrm>
            <a:off x="6583680" y="5532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owners who want it handled — completely.</a:t>
            </a:r>
            <a:endParaRPr lang="en-US" sz="1150" dirty="0"/>
          </a:p>
        </p:txBody>
      </p:sp>
      <p:sp>
        <p:nvSpPr>
          <p:cNvPr id="42" name="Billing Note"/>
          <p:cNvSpPr/>
          <p:nvPr/>
        </p:nvSpPr>
        <p:spPr>
          <a:xfrm>
            <a:off x="6217920" y="6070000"/>
            <a:ext cx="5394960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Hosting, CDN &amp; payment gateway charges billed monthly,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process — no jargon, no drama, no delays.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2601468"/>
            <a:ext cx="283464" cy="28346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68680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Your Business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8680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products, your customers, and your goals — then plan the perfect store.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74136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48456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1044" y="2601468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34256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648456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3648456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your store, add your products, and connect payments and delivery — mobile-first.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153912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19" name="Shape 15"/>
          <p:cNvSpPr/>
          <p:nvPr/>
        </p:nvSpPr>
        <p:spPr>
          <a:xfrm>
            <a:off x="6428232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26014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14032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428232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Training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6428232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 goes live. We train your team on the panel — or start your maintenance plan.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933688" y="2148840"/>
            <a:ext cx="2651760" cy="3566160"/>
          </a:xfrm>
          <a:prstGeom prst="roundRect">
            <a:avLst>
              <a:gd name="adj" fmla="val 2759"/>
            </a:avLst>
          </a:prstGeom>
          <a:solidFill>
            <a:srgbClr val="24486E"/>
          </a:solidFill>
          <a:ln/>
        </p:spPr>
      </p:sp>
      <p:sp>
        <p:nvSpPr>
          <p:cNvPr id="25" name="Shape 20"/>
          <p:cNvSpPr/>
          <p:nvPr/>
        </p:nvSpPr>
        <p:spPr>
          <a:xfrm>
            <a:off x="9208008" y="2468880"/>
            <a:ext cx="548640" cy="548640"/>
          </a:xfrm>
          <a:prstGeom prst="ellipse">
            <a:avLst/>
          </a:prstGeom>
          <a:solidFill>
            <a:srgbClr val="C1922E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596" y="2601468"/>
            <a:ext cx="283464" cy="2834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893808" y="2532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1749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9208008" y="32918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9208008" y="41148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keep improving speed, Google ranking, and sales as your business scales.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store ships with the essentials — no upsell required.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32104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672" y="2317272"/>
            <a:ext cx="193487" cy="19348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2104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store design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32104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around your brand and products — never a template.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92424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30168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3736" y="2317272"/>
            <a:ext cx="193487" cy="1934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30168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build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630168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smooth on the phones your customers actually shop with.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90488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28232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1800" y="2317272"/>
            <a:ext cx="193487" cy="19348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28232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control panel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28232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photos, prices, descriptions &amp; categories yourself.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988552" y="1965960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226296" y="2203704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9864" y="2317272"/>
            <a:ext cx="193487" cy="19348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6296" y="2752344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Google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226296" y="3044952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shoppers searching for your products find you first.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94360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32104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5672" y="4365528"/>
            <a:ext cx="193487" cy="19348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32104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&amp; checkout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832104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payment options your customers already know and trust.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3392424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3630168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43736" y="4365528"/>
            <a:ext cx="193487" cy="193487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630168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server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3630168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hosting power — fast, reliable, and all yours.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6190488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6428232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1800" y="4365528"/>
            <a:ext cx="193487" cy="193487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428232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Global-ready</a:t>
            </a:r>
            <a:endParaRPr lang="en-US" sz="1350" dirty="0"/>
          </a:p>
        </p:txBody>
      </p:sp>
      <p:sp>
        <p:nvSpPr>
          <p:cNvPr id="40" name="Text 31"/>
          <p:cNvSpPr/>
          <p:nvPr/>
        </p:nvSpPr>
        <p:spPr>
          <a:xfrm>
            <a:off x="6428232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and videos load fast in every country, every language.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8988552" y="4014216"/>
            <a:ext cx="261518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226296" y="4251960"/>
            <a:ext cx="420624" cy="420624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9864" y="4365528"/>
            <a:ext cx="193487" cy="193487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226296" y="4800600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dashboard</a:t>
            </a:r>
            <a:endParaRPr lang="en-US" sz="1350" dirty="0"/>
          </a:p>
        </p:txBody>
      </p:sp>
      <p:sp>
        <p:nvSpPr>
          <p:cNvPr id="45" name="Text 35"/>
          <p:cNvSpPr/>
          <p:nvPr/>
        </p:nvSpPr>
        <p:spPr>
          <a:xfrm>
            <a:off x="9226296" y="5093208"/>
            <a:ext cx="2157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visits, orders, and best-sellers at a glance.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EVERY INDUSTRY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solution. Any business. Anywhere in the world.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39572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2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675888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Fashion, food, decor, electronics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17880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 built to sell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681728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&amp; filters shoppers love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518464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Offers, coupons &amp; festival sales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4315968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4636008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2395728"/>
            <a:ext cx="310896" cy="310896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636008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</a:t>
            </a:r>
            <a:endParaRPr lang="en-US" sz="21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67588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956048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salons, clinics, coaches</a:t>
            </a:r>
            <a:endParaRPr lang="en-US" sz="12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17880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4956048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&amp; appointment flows</a:t>
            </a:r>
            <a:endParaRPr lang="en-US" sz="12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468172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4956048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 &amp; pricing pages</a:t>
            </a:r>
            <a:endParaRPr lang="en-US" sz="1200" dirty="0"/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184648"/>
            <a:ext cx="182880" cy="18288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4956048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customer trust</a:t>
            </a:r>
            <a:endParaRPr lang="en-US" sz="1200" dirty="0"/>
          </a:p>
        </p:txBody>
      </p:sp>
      <p:sp>
        <p:nvSpPr>
          <p:cNvPr id="30" name="Shape 18"/>
          <p:cNvSpPr/>
          <p:nvPr/>
        </p:nvSpPr>
        <p:spPr>
          <a:xfrm>
            <a:off x="8037576" y="1874520"/>
            <a:ext cx="3547872" cy="3977640"/>
          </a:xfrm>
          <a:prstGeom prst="roundRect">
            <a:avLst>
              <a:gd name="adj" fmla="val 2320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19"/>
          <p:cNvSpPr/>
          <p:nvPr/>
        </p:nvSpPr>
        <p:spPr>
          <a:xfrm>
            <a:off x="8357616" y="2240280"/>
            <a:ext cx="621792" cy="621792"/>
          </a:xfrm>
          <a:prstGeom prst="ellipse">
            <a:avLst/>
          </a:prstGeom>
          <a:solidFill>
            <a:srgbClr val="24486E"/>
          </a:solidFill>
          <a:ln/>
        </p:spPr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3064" y="2395728"/>
            <a:ext cx="310896" cy="310896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8357616" y="306324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Sellers</a:t>
            </a:r>
            <a:endParaRPr lang="en-US" sz="21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3675888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8677656" y="365760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country, any currency</a:t>
            </a:r>
            <a:endParaRPr lang="en-US" sz="12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4178808"/>
            <a:ext cx="182880" cy="182880"/>
          </a:xfrm>
          <a:prstGeom prst="rect">
            <a:avLst/>
          </a:prstGeom>
        </p:spPr>
      </p:pic>
      <p:sp>
        <p:nvSpPr>
          <p:cNvPr id="37" name="Text 22"/>
          <p:cNvSpPr/>
          <p:nvPr/>
        </p:nvSpPr>
        <p:spPr>
          <a:xfrm>
            <a:off x="8677656" y="41605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languages supported</a:t>
            </a:r>
            <a:endParaRPr lang="en-US" sz="12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4681728"/>
            <a:ext cx="182880" cy="182880"/>
          </a:xfrm>
          <a:prstGeom prst="rect">
            <a:avLst/>
          </a:prstGeom>
        </p:spPr>
      </p:pic>
      <p:sp>
        <p:nvSpPr>
          <p:cNvPr id="39" name="Text 23"/>
          <p:cNvSpPr/>
          <p:nvPr/>
        </p:nvSpPr>
        <p:spPr>
          <a:xfrm>
            <a:off x="8677656" y="466344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loading worldwide</a:t>
            </a:r>
            <a:endParaRPr lang="en-US" sz="12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048" y="5184648"/>
            <a:ext cx="182880" cy="182880"/>
          </a:xfrm>
          <a:prstGeom prst="rect">
            <a:avLst/>
          </a:prstGeom>
        </p:spPr>
      </p:pic>
      <p:sp>
        <p:nvSpPr>
          <p:cNvPr id="41" name="Text 24"/>
          <p:cNvSpPr/>
          <p:nvPr/>
        </p:nvSpPr>
        <p:spPr>
          <a:xfrm>
            <a:off x="8677656" y="516636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7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 &amp; local rules handled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builds — real clients, real results.</a:t>
            </a:r>
            <a:endParaRPr lang="en-US" sz="3100" dirty="0"/>
          </a:p>
        </p:txBody>
      </p:sp>
      <p:sp>
        <p:nvSpPr>
          <p:cNvPr id="100" name="Card 100"/>
          <p:cNvSpPr/>
          <p:nvPr/>
        </p:nvSpPr>
        <p:spPr>
          <a:xfrm>
            <a:off x="594360" y="1700000"/>
            <a:ext cx="3515120" cy="22000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1" name="Label 101"/>
          <p:cNvSpPr/>
          <p:nvPr/>
        </p:nvSpPr>
        <p:spPr>
          <a:xfrm>
            <a:off x="754360" y="1805000"/>
            <a:ext cx="31951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&amp; TRAINING</a:t>
            </a:r>
            <a:endParaRPr lang="en-US" sz="850" dirty="0"/>
          </a:p>
        </p:txBody>
      </p:sp>
      <p:sp>
        <p:nvSpPr>
          <p:cNvPr id="102" name="Title 102"/>
          <p:cNvSpPr/>
          <p:nvPr/>
        </p:nvSpPr>
        <p:spPr>
          <a:xfrm>
            <a:off x="754360" y="2025000"/>
            <a:ext cx="31951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BioAI Lab</a:t>
            </a:r>
            <a:endParaRPr lang="en-US" sz="1400" dirty="0"/>
          </a:p>
        </p:txBody>
      </p:sp>
      <p:pic>
        <p:nvPicPr>
          <p:cNvPr id="103" name="Screenshot 10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60" y="2285000"/>
            <a:ext cx="3195120" cy="1180000"/>
          </a:xfrm>
          <a:prstGeom prst="roundRect">
            <a:avLst>
              <a:gd name="adj" fmla="val 4500"/>
            </a:avLst>
          </a:prstGeom>
          <a:ln w="9525">
            <a:solidFill>
              <a:srgbClr val="E4DCC8"/>
            </a:solidFill>
          </a:ln>
          <a:effectLst>
            <a:outerShdw blurRad="63500" dist="1905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04" name="TagBg 104"/>
          <p:cNvSpPr/>
          <p:nvPr/>
        </p:nvSpPr>
        <p:spPr>
          <a:xfrm>
            <a:off x="754360" y="3530000"/>
            <a:ext cx="3195120" cy="245000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05" name="TagTxt 105"/>
          <p:cNvSpPr/>
          <p:nvPr/>
        </p:nvSpPr>
        <p:spPr>
          <a:xfrm>
            <a:off x="754360" y="3530000"/>
            <a:ext cx="3195120" cy="2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· LMS · Consultations</a:t>
            </a:r>
            <a:endParaRPr lang="en-US" sz="900" dirty="0"/>
          </a:p>
        </p:txBody>
      </p:sp>
      <p:sp>
        <p:nvSpPr>
          <p:cNvPr id="106" name="Card 106"/>
          <p:cNvSpPr/>
          <p:nvPr/>
        </p:nvSpPr>
        <p:spPr>
          <a:xfrm>
            <a:off x="4338440" y="1700000"/>
            <a:ext cx="3515120" cy="22000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7" name="Label 107"/>
          <p:cNvSpPr/>
          <p:nvPr/>
        </p:nvSpPr>
        <p:spPr>
          <a:xfrm>
            <a:off x="4498440" y="1805000"/>
            <a:ext cx="31951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SERVICES</a:t>
            </a:r>
            <a:endParaRPr lang="en-US" sz="850" dirty="0"/>
          </a:p>
        </p:txBody>
      </p:sp>
      <p:sp>
        <p:nvSpPr>
          <p:cNvPr id="108" name="Title 108"/>
          <p:cNvSpPr/>
          <p:nvPr/>
        </p:nvSpPr>
        <p:spPr>
          <a:xfrm>
            <a:off x="4498440" y="2025000"/>
            <a:ext cx="31951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Mentor Clinic</a:t>
            </a:r>
            <a:endParaRPr lang="en-US" sz="1400" dirty="0"/>
          </a:p>
        </p:txBody>
      </p:sp>
      <p:pic>
        <p:nvPicPr>
          <p:cNvPr id="109" name="Screenshot 10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440" y="2285000"/>
            <a:ext cx="3195120" cy="1180000"/>
          </a:xfrm>
          <a:prstGeom prst="roundRect">
            <a:avLst>
              <a:gd name="adj" fmla="val 4500"/>
            </a:avLst>
          </a:prstGeom>
          <a:ln w="9525">
            <a:solidFill>
              <a:srgbClr val="E4DCC8"/>
            </a:solidFill>
          </a:ln>
          <a:effectLst>
            <a:outerShdw blurRad="63500" dist="1905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10" name="TagBg 110"/>
          <p:cNvSpPr/>
          <p:nvPr/>
        </p:nvSpPr>
        <p:spPr>
          <a:xfrm>
            <a:off x="4498440" y="3530000"/>
            <a:ext cx="3195120" cy="245000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11" name="TagTxt 111"/>
          <p:cNvSpPr/>
          <p:nvPr/>
        </p:nvSpPr>
        <p:spPr>
          <a:xfrm>
            <a:off x="4498440" y="3530000"/>
            <a:ext cx="3195120" cy="2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Publication · CRM Leads</a:t>
            </a:r>
            <a:endParaRPr lang="en-US" sz="900" dirty="0"/>
          </a:p>
        </p:txBody>
      </p:sp>
      <p:sp>
        <p:nvSpPr>
          <p:cNvPr id="112" name="Card 112"/>
          <p:cNvSpPr/>
          <p:nvPr/>
        </p:nvSpPr>
        <p:spPr>
          <a:xfrm>
            <a:off x="8082520" y="1700000"/>
            <a:ext cx="3515120" cy="22000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3" name="Label 113"/>
          <p:cNvSpPr/>
          <p:nvPr/>
        </p:nvSpPr>
        <p:spPr>
          <a:xfrm>
            <a:off x="8242520" y="1805000"/>
            <a:ext cx="31951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COACHING</a:t>
            </a:r>
            <a:endParaRPr lang="en-US" sz="850" dirty="0"/>
          </a:p>
        </p:txBody>
      </p:sp>
      <p:sp>
        <p:nvSpPr>
          <p:cNvPr id="114" name="Title 114"/>
          <p:cNvSpPr/>
          <p:nvPr/>
        </p:nvSpPr>
        <p:spPr>
          <a:xfrm>
            <a:off x="8242520" y="2025000"/>
            <a:ext cx="31951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DBA Coach</a:t>
            </a:r>
            <a:endParaRPr lang="en-US" sz="1400" dirty="0"/>
          </a:p>
        </p:txBody>
      </p:sp>
      <p:pic>
        <p:nvPicPr>
          <p:cNvPr id="115" name="Screenshot 1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2520" y="2285000"/>
            <a:ext cx="3195120" cy="1180000"/>
          </a:xfrm>
          <a:prstGeom prst="roundRect">
            <a:avLst>
              <a:gd name="adj" fmla="val 4500"/>
            </a:avLst>
          </a:prstGeom>
          <a:ln w="9525">
            <a:solidFill>
              <a:srgbClr val="E4DCC8"/>
            </a:solidFill>
          </a:ln>
          <a:effectLst>
            <a:outerShdw blurRad="63500" dist="1905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16" name="TagBg 116"/>
          <p:cNvSpPr/>
          <p:nvPr/>
        </p:nvSpPr>
        <p:spPr>
          <a:xfrm>
            <a:off x="8242520" y="3530000"/>
            <a:ext cx="3195120" cy="245000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17" name="TagTxt 117"/>
          <p:cNvSpPr/>
          <p:nvPr/>
        </p:nvSpPr>
        <p:spPr>
          <a:xfrm>
            <a:off x="8242520" y="3530000"/>
            <a:ext cx="3195120" cy="2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 · Consultations · Funnels</a:t>
            </a:r>
            <a:endParaRPr lang="en-US" sz="900" dirty="0"/>
          </a:p>
        </p:txBody>
      </p:sp>
      <p:sp>
        <p:nvSpPr>
          <p:cNvPr id="118" name="Card 118"/>
          <p:cNvSpPr/>
          <p:nvPr/>
        </p:nvSpPr>
        <p:spPr>
          <a:xfrm>
            <a:off x="2466400" y="4080000"/>
            <a:ext cx="3515120" cy="22000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9" name="Label 119"/>
          <p:cNvSpPr/>
          <p:nvPr/>
        </p:nvSpPr>
        <p:spPr>
          <a:xfrm>
            <a:off x="2626400" y="4185000"/>
            <a:ext cx="31951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PUBLISHING</a:t>
            </a:r>
            <a:endParaRPr lang="en-US" sz="850" dirty="0"/>
          </a:p>
        </p:txBody>
      </p:sp>
      <p:sp>
        <p:nvSpPr>
          <p:cNvPr id="120" name="Title 120"/>
          <p:cNvSpPr/>
          <p:nvPr/>
        </p:nvSpPr>
        <p:spPr>
          <a:xfrm>
            <a:off x="2626400" y="4405000"/>
            <a:ext cx="31951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JBPAR Journal</a:t>
            </a:r>
            <a:endParaRPr lang="en-US" sz="1400" dirty="0"/>
          </a:p>
        </p:txBody>
      </p:sp>
      <p:pic>
        <p:nvPicPr>
          <p:cNvPr id="121" name="Screenshot 1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6400" y="4665000"/>
            <a:ext cx="3195120" cy="1180000"/>
          </a:xfrm>
          <a:prstGeom prst="roundRect">
            <a:avLst>
              <a:gd name="adj" fmla="val 4500"/>
            </a:avLst>
          </a:prstGeom>
          <a:ln w="9525">
            <a:solidFill>
              <a:srgbClr val="E4DCC8"/>
            </a:solidFill>
          </a:ln>
          <a:effectLst>
            <a:outerShdw blurRad="63500" dist="1905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22" name="TagBg 122"/>
          <p:cNvSpPr/>
          <p:nvPr/>
        </p:nvSpPr>
        <p:spPr>
          <a:xfrm>
            <a:off x="2626400" y="5910000"/>
            <a:ext cx="3195120" cy="245000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23" name="TagTxt 123"/>
          <p:cNvSpPr/>
          <p:nvPr/>
        </p:nvSpPr>
        <p:spPr>
          <a:xfrm>
            <a:off x="2626400" y="5910000"/>
            <a:ext cx="3195120" cy="2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 · Submissions · CMS</a:t>
            </a:r>
            <a:endParaRPr lang="en-US" sz="900" dirty="0"/>
          </a:p>
        </p:txBody>
      </p:sp>
      <p:sp>
        <p:nvSpPr>
          <p:cNvPr id="124" name="Card 124"/>
          <p:cNvSpPr/>
          <p:nvPr/>
        </p:nvSpPr>
        <p:spPr>
          <a:xfrm>
            <a:off x="6210480" y="4080000"/>
            <a:ext cx="3515120" cy="2200000"/>
          </a:xfrm>
          <a:prstGeom prst="roundRect">
            <a:avLst>
              <a:gd name="adj" fmla="val 232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5" name="Label 125"/>
          <p:cNvSpPr/>
          <p:nvPr/>
        </p:nvSpPr>
        <p:spPr>
          <a:xfrm>
            <a:off x="6370480" y="4185000"/>
            <a:ext cx="3195120" cy="1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PLATFORM</a:t>
            </a:r>
            <a:endParaRPr lang="en-US" sz="850" dirty="0"/>
          </a:p>
        </p:txBody>
      </p:sp>
      <p:sp>
        <p:nvSpPr>
          <p:cNvPr id="126" name="Title 126"/>
          <p:cNvSpPr/>
          <p:nvPr/>
        </p:nvSpPr>
        <p:spPr>
          <a:xfrm>
            <a:off x="6370480" y="4405000"/>
            <a:ext cx="319512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Deepiotics.ai</a:t>
            </a:r>
            <a:endParaRPr lang="en-US" sz="1400" dirty="0"/>
          </a:p>
        </p:txBody>
      </p:sp>
      <p:pic>
        <p:nvPicPr>
          <p:cNvPr id="127" name="Screenshot 1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0480" y="4665000"/>
            <a:ext cx="3195120" cy="1180000"/>
          </a:xfrm>
          <a:prstGeom prst="roundRect">
            <a:avLst>
              <a:gd name="adj" fmla="val 4500"/>
            </a:avLst>
          </a:prstGeom>
          <a:ln w="9525">
            <a:solidFill>
              <a:srgbClr val="E4DCC8"/>
            </a:solidFill>
          </a:ln>
          <a:effectLst>
            <a:outerShdw blurRad="63500" dist="19050" dir="5400000" algn="bl" rotWithShape="0">
              <a:srgbClr val="000000">
                <a:alpha val="18000"/>
              </a:srgbClr>
            </a:outerShdw>
          </a:effectLst>
        </p:spPr>
      </p:pic>
      <p:sp>
        <p:nvSpPr>
          <p:cNvPr id="128" name="TagBg 128"/>
          <p:cNvSpPr/>
          <p:nvPr/>
        </p:nvSpPr>
        <p:spPr>
          <a:xfrm>
            <a:off x="6370480" y="5910000"/>
            <a:ext cx="3195120" cy="245000"/>
          </a:xfrm>
          <a:prstGeom prst="roundRect">
            <a:avLst>
              <a:gd name="adj" fmla="val 15909"/>
            </a:avLst>
          </a:prstGeom>
          <a:solidFill>
            <a:srgbClr val="F2E9D8"/>
          </a:solidFill>
          <a:ln/>
        </p:spPr>
      </p:sp>
      <p:sp>
        <p:nvSpPr>
          <p:cNvPr id="129" name="TagTxt 129"/>
          <p:cNvSpPr/>
          <p:nvPr/>
        </p:nvSpPr>
        <p:spPr>
          <a:xfrm>
            <a:off x="6370480" y="5910000"/>
            <a:ext cx="3195120" cy="24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7A6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Design · Brand · Web 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World-class technology — explained in plain words.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24780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35608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private server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68680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a dedicated Hostinger VPS — real power, not shared with strangers.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15968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0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2478024"/>
            <a:ext cx="219456" cy="2194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57216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rock-solid database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90288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keeps your products, orders, and customers safe and perfectly organised.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37576" y="210312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17" name="Shape 13"/>
          <p:cNvSpPr/>
          <p:nvPr/>
        </p:nvSpPr>
        <p:spPr>
          <a:xfrm>
            <a:off x="8293608" y="235915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247802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878824" y="234086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Lightning-fast, worldwide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8311896" y="297180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delivers your photos and videos in seconds — in every country.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2455164" y="402336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22" name="Shape 17"/>
          <p:cNvSpPr/>
          <p:nvPr/>
        </p:nvSpPr>
        <p:spPr>
          <a:xfrm>
            <a:off x="2711196" y="427939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0068" y="4398264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296412" y="4261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when you go viral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2729484" y="489204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100 visitors or 100,000 — we upgrade the server, never rebuild the store.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6176772" y="4023360"/>
            <a:ext cx="3547872" cy="1691640"/>
          </a:xfrm>
          <a:prstGeom prst="roundRect">
            <a:avLst>
              <a:gd name="adj" fmla="val 4324"/>
            </a:avLst>
          </a:prstGeom>
          <a:solidFill>
            <a:srgbClr val="24486E"/>
          </a:solidFill>
          <a:ln/>
        </p:spPr>
      </p:sp>
      <p:sp>
        <p:nvSpPr>
          <p:cNvPr id="27" name="Shape 21"/>
          <p:cNvSpPr/>
          <p:nvPr/>
        </p:nvSpPr>
        <p:spPr>
          <a:xfrm>
            <a:off x="6432804" y="4279392"/>
            <a:ext cx="457200" cy="457200"/>
          </a:xfrm>
          <a:prstGeom prst="ellipse">
            <a:avLst/>
          </a:prstGeom>
          <a:solidFill>
            <a:srgbClr val="12283F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676" y="4398264"/>
            <a:ext cx="219456" cy="219456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18020" y="4261104"/>
            <a:ext cx="2496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compliant by design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6451092" y="4892040"/>
            <a:ext cx="29992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backups, and privacy rules like GDPR — followed from day one.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Custom-built vs. off-the-shelf — see the difference.</a:t>
            </a:r>
            <a:endParaRPr lang="en-US" sz="3100" dirty="0"/>
          </a:p>
        </p:txBody>
      </p:sp>
      <p:sp>
        <p:nvSpPr>
          <p:cNvPr id="30" name="Deepiotics Column Highlight"/>
          <p:cNvSpPr/>
          <p:nvPr/>
        </p:nvSpPr>
        <p:spPr>
          <a:xfrm>
            <a:off x="8746360" y="2400000"/>
            <a:ext cx="2851000" cy="3660000"/>
          </a:xfrm>
          <a:prstGeom prst="rect">
            <a:avLst/>
          </a:prstGeom>
          <a:solidFill>
            <a:srgbClr val="FBF0D9"/>
          </a:solidFill>
          <a:ln/>
        </p:spPr>
      </p:sp>
      <p:sp>
        <p:nvSpPr>
          <p:cNvPr id="31" name="Header Band"/>
          <p:cNvSpPr/>
          <p:nvPr/>
        </p:nvSpPr>
        <p:spPr>
          <a:xfrm>
            <a:off x="594360" y="1900000"/>
            <a:ext cx="11003000" cy="5000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2" name="Row Band 1"/>
          <p:cNvSpPr/>
          <p:nvPr/>
        </p:nvSpPr>
        <p:spPr>
          <a:xfrm>
            <a:off x="594360" y="2400000"/>
            <a:ext cx="8152000" cy="6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Row Band 3"/>
          <p:cNvSpPr/>
          <p:nvPr/>
        </p:nvSpPr>
        <p:spPr>
          <a:xfrm>
            <a:off x="594360" y="3620000"/>
            <a:ext cx="8152000" cy="6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Row Band 5"/>
          <p:cNvSpPr/>
          <p:nvPr/>
        </p:nvSpPr>
        <p:spPr>
          <a:xfrm>
            <a:off x="594360" y="4840000"/>
            <a:ext cx="8152000" cy="6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Header Label 0"/>
          <p:cNvSpPr/>
          <p:nvPr/>
        </p:nvSpPr>
        <p:spPr>
          <a:xfrm>
            <a:off x="731520" y="1900000"/>
            <a:ext cx="2176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</a:t>
            </a:r>
            <a:endParaRPr lang="en-US" sz="1150" dirty="0"/>
          </a:p>
        </p:txBody>
      </p:sp>
      <p:sp>
        <p:nvSpPr>
          <p:cNvPr id="41" name="Header Label 1"/>
          <p:cNvSpPr/>
          <p:nvPr/>
        </p:nvSpPr>
        <p:spPr>
          <a:xfrm>
            <a:off x="3044360" y="1900000"/>
            <a:ext cx="2851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</a:t>
            </a:r>
            <a:endParaRPr lang="en-US" sz="1250" dirty="0"/>
          </a:p>
        </p:txBody>
      </p:sp>
      <p:sp>
        <p:nvSpPr>
          <p:cNvPr id="42" name="Header Label 2"/>
          <p:cNvSpPr/>
          <p:nvPr/>
        </p:nvSpPr>
        <p:spPr>
          <a:xfrm>
            <a:off x="5895360" y="1900000"/>
            <a:ext cx="2851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</a:t>
            </a:r>
            <a:endParaRPr lang="en-US" sz="1250" dirty="0"/>
          </a:p>
        </p:txBody>
      </p:sp>
      <p:sp>
        <p:nvSpPr>
          <p:cNvPr id="43" name="Header Label 3"/>
          <p:cNvSpPr/>
          <p:nvPr/>
        </p:nvSpPr>
        <p:spPr>
          <a:xfrm>
            <a:off x="8746360" y="1900000"/>
            <a:ext cx="2851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15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</a:t>
            </a:r>
            <a:endParaRPr lang="en-US" sz="1250" dirty="0"/>
          </a:p>
        </p:txBody>
      </p:sp>
      <p:sp>
        <p:nvSpPr>
          <p:cNvPr id="50" name="Cell 50"/>
          <p:cNvSpPr/>
          <p:nvPr/>
        </p:nvSpPr>
        <p:spPr>
          <a:xfrm>
            <a:off x="731520" y="240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150" dirty="0"/>
          </a:p>
        </p:txBody>
      </p:sp>
      <p:sp>
        <p:nvSpPr>
          <p:cNvPr id="51" name="Cell 51"/>
          <p:cNvSpPr/>
          <p:nvPr/>
        </p:nvSpPr>
        <p:spPr>
          <a:xfrm>
            <a:off x="3181520" y="240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hosts and controls your store</a:t>
            </a:r>
            <a:endParaRPr lang="en-US" sz="1050" dirty="0"/>
          </a:p>
        </p:txBody>
      </p:sp>
      <p:sp>
        <p:nvSpPr>
          <p:cNvPr id="52" name="Cell 52"/>
          <p:cNvSpPr/>
          <p:nvPr/>
        </p:nvSpPr>
        <p:spPr>
          <a:xfrm>
            <a:off x="6032520" y="240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code, but manage it yourself</a:t>
            </a:r>
            <a:endParaRPr lang="en-US" sz="1050" dirty="0"/>
          </a:p>
        </p:txBody>
      </p:sp>
      <p:sp>
        <p:nvSpPr>
          <p:cNvPr id="53" name="Cell 53"/>
          <p:cNvSpPr/>
          <p:nvPr/>
        </p:nvSpPr>
        <p:spPr>
          <a:xfrm>
            <a:off x="8883520" y="240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everything — store, code &amp; content</a:t>
            </a:r>
            <a:endParaRPr lang="en-US" sz="1050" dirty="0"/>
          </a:p>
        </p:txBody>
      </p:sp>
      <p:sp>
        <p:nvSpPr>
          <p:cNvPr id="54" name="Cell 54"/>
          <p:cNvSpPr/>
          <p:nvPr/>
        </p:nvSpPr>
        <p:spPr>
          <a:xfrm>
            <a:off x="731520" y="301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55" name="Cell 55"/>
          <p:cNvSpPr/>
          <p:nvPr/>
        </p:nvSpPr>
        <p:spPr>
          <a:xfrm>
            <a:off x="3181520" y="301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templates — many stores look alike</a:t>
            </a:r>
            <a:endParaRPr lang="en-US" sz="1050" dirty="0"/>
          </a:p>
        </p:txBody>
      </p:sp>
      <p:sp>
        <p:nvSpPr>
          <p:cNvPr id="56" name="Cell 56"/>
          <p:cNvSpPr/>
          <p:nvPr/>
        </p:nvSpPr>
        <p:spPr>
          <a:xfrm>
            <a:off x="6032520" y="301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themes, need heavy customization</a:t>
            </a:r>
            <a:endParaRPr lang="en-US" sz="1050" dirty="0"/>
          </a:p>
        </p:txBody>
      </p:sp>
      <p:sp>
        <p:nvSpPr>
          <p:cNvPr id="57" name="Cell 57"/>
          <p:cNvSpPr/>
          <p:nvPr/>
        </p:nvSpPr>
        <p:spPr>
          <a:xfrm>
            <a:off x="8883520" y="301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your brand — one of a kind</a:t>
            </a:r>
            <a:endParaRPr lang="en-US" sz="1050" dirty="0"/>
          </a:p>
        </p:txBody>
      </p:sp>
      <p:sp>
        <p:nvSpPr>
          <p:cNvPr id="58" name="Cell 58"/>
          <p:cNvSpPr/>
          <p:nvPr/>
        </p:nvSpPr>
        <p:spPr>
          <a:xfrm>
            <a:off x="731520" y="362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Fees</a:t>
            </a:r>
            <a:endParaRPr lang="en-US" sz="1150" dirty="0"/>
          </a:p>
        </p:txBody>
      </p:sp>
      <p:sp>
        <p:nvSpPr>
          <p:cNvPr id="59" name="Cell 59"/>
          <p:cNvSpPr/>
          <p:nvPr/>
        </p:nvSpPr>
        <p:spPr>
          <a:xfrm>
            <a:off x="3181520" y="362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fees apply unless using their payment gateway</a:t>
            </a:r>
            <a:endParaRPr lang="en-US" sz="1050" dirty="0"/>
          </a:p>
        </p:txBody>
      </p:sp>
      <p:sp>
        <p:nvSpPr>
          <p:cNvPr id="60" name="Cell 60"/>
          <p:cNvSpPr/>
          <p:nvPr/>
        </p:nvSpPr>
        <p:spPr>
          <a:xfrm>
            <a:off x="6032520" y="362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payment gateway you connect</a:t>
            </a:r>
            <a:endParaRPr lang="en-US" sz="1050" dirty="0"/>
          </a:p>
        </p:txBody>
      </p:sp>
      <p:sp>
        <p:nvSpPr>
          <p:cNvPr id="61" name="Cell 61"/>
          <p:cNvSpPr/>
          <p:nvPr/>
        </p:nvSpPr>
        <p:spPr>
          <a:xfrm>
            <a:off x="8883520" y="362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commissions — 100% of every sale is yours</a:t>
            </a:r>
            <a:endParaRPr lang="en-US" sz="1050" dirty="0"/>
          </a:p>
        </p:txBody>
      </p:sp>
      <p:sp>
        <p:nvSpPr>
          <p:cNvPr id="62" name="Cell 62"/>
          <p:cNvSpPr/>
          <p:nvPr/>
        </p:nvSpPr>
        <p:spPr>
          <a:xfrm>
            <a:off x="731520" y="423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Security</a:t>
            </a:r>
            <a:endParaRPr lang="en-US" sz="1150" dirty="0"/>
          </a:p>
        </p:txBody>
      </p:sp>
      <p:sp>
        <p:nvSpPr>
          <p:cNvPr id="63" name="Cell 63"/>
          <p:cNvSpPr/>
          <p:nvPr/>
        </p:nvSpPr>
        <p:spPr>
          <a:xfrm>
            <a:off x="3181520" y="423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by the platform, limited control</a:t>
            </a:r>
            <a:endParaRPr lang="en-US" sz="1050" dirty="0"/>
          </a:p>
        </p:txBody>
      </p:sp>
      <p:sp>
        <p:nvSpPr>
          <p:cNvPr id="64" name="Cell 64"/>
          <p:cNvSpPr/>
          <p:nvPr/>
        </p:nvSpPr>
        <p:spPr>
          <a:xfrm>
            <a:off x="6032520" y="423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handle hosting, backups &amp; security patches</a:t>
            </a:r>
            <a:endParaRPr lang="en-US" sz="1050" dirty="0"/>
          </a:p>
        </p:txBody>
      </p:sp>
      <p:sp>
        <p:nvSpPr>
          <p:cNvPr id="65" name="Cell 65"/>
          <p:cNvSpPr/>
          <p:nvPr/>
        </p:nvSpPr>
        <p:spPr>
          <a:xfrm>
            <a:off x="8883520" y="423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server, monitored for speed &amp; security</a:t>
            </a:r>
            <a:endParaRPr lang="en-US" sz="1050" dirty="0"/>
          </a:p>
        </p:txBody>
      </p:sp>
      <p:sp>
        <p:nvSpPr>
          <p:cNvPr id="66" name="Cell 66"/>
          <p:cNvSpPr/>
          <p:nvPr/>
        </p:nvSpPr>
        <p:spPr>
          <a:xfrm>
            <a:off x="731520" y="484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Customization</a:t>
            </a:r>
            <a:endParaRPr lang="en-US" sz="1150" dirty="0"/>
          </a:p>
        </p:txBody>
      </p:sp>
      <p:sp>
        <p:nvSpPr>
          <p:cNvPr id="67" name="Cell 67"/>
          <p:cNvSpPr/>
          <p:nvPr/>
        </p:nvSpPr>
        <p:spPr>
          <a:xfrm>
            <a:off x="3181520" y="484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features need paid apps</a:t>
            </a:r>
            <a:endParaRPr lang="en-US" sz="1050" dirty="0"/>
          </a:p>
        </p:txBody>
      </p:sp>
      <p:sp>
        <p:nvSpPr>
          <p:cNvPr id="68" name="Cell 68"/>
          <p:cNvSpPr/>
          <p:nvPr/>
        </p:nvSpPr>
        <p:spPr>
          <a:xfrm>
            <a:off x="6032520" y="484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conflicts common as the store grows</a:t>
            </a:r>
            <a:endParaRPr lang="en-US" sz="1050" dirty="0"/>
          </a:p>
        </p:txBody>
      </p:sp>
      <p:sp>
        <p:nvSpPr>
          <p:cNvPr id="69" name="Cell 69"/>
          <p:cNvSpPr/>
          <p:nvPr/>
        </p:nvSpPr>
        <p:spPr>
          <a:xfrm>
            <a:off x="8883520" y="484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features — no plugin patchwork</a:t>
            </a:r>
            <a:endParaRPr lang="en-US" sz="1050" dirty="0"/>
          </a:p>
        </p:txBody>
      </p:sp>
      <p:sp>
        <p:nvSpPr>
          <p:cNvPr id="70" name="Cell 70"/>
          <p:cNvSpPr/>
          <p:nvPr/>
        </p:nvSpPr>
        <p:spPr>
          <a:xfrm>
            <a:off x="731520" y="5450000"/>
            <a:ext cx="217600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50" dirty="0"/>
          </a:p>
        </p:txBody>
      </p:sp>
      <p:sp>
        <p:nvSpPr>
          <p:cNvPr id="71" name="Cell 71"/>
          <p:cNvSpPr/>
          <p:nvPr/>
        </p:nvSpPr>
        <p:spPr>
          <a:xfrm>
            <a:off x="3181520" y="545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Ticket-based, generic queue</a:t>
            </a:r>
            <a:endParaRPr lang="en-US" sz="1050" dirty="0"/>
          </a:p>
        </p:txBody>
      </p:sp>
      <p:sp>
        <p:nvSpPr>
          <p:cNvPr id="72" name="Cell 72"/>
          <p:cNvSpPr/>
          <p:nvPr/>
        </p:nvSpPr>
        <p:spPr>
          <a:xfrm>
            <a:off x="6032520" y="545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forums, no dedicated help</a:t>
            </a:r>
            <a:endParaRPr lang="en-US" sz="1050" dirty="0"/>
          </a:p>
        </p:txBody>
      </p:sp>
      <p:sp>
        <p:nvSpPr>
          <p:cNvPr id="73" name="Cell 73"/>
          <p:cNvSpPr/>
          <p:nvPr/>
        </p:nvSpPr>
        <p:spPr>
          <a:xfrm>
            <a:off x="8883520" y="5450000"/>
            <a:ext cx="2576680" cy="6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partner, one point of contact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in six weeks — selling from day one.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960120" y="2743200"/>
            <a:ext cx="10271455" cy="0"/>
          </a:xfrm>
          <a:prstGeom prst="line">
            <a:avLst/>
          </a:prstGeom>
          <a:noFill/>
          <a:ln w="38100">
            <a:solidFill>
              <a:srgbClr val="D8CD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50392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Design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50392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your business and design your store — you approve everything.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11880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74136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30168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added, payments connected, everything tested.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91656" y="2615184"/>
            <a:ext cx="256032" cy="256032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53912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53912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9944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Training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09944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goes live. We train you — or take over maintenance.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71432" y="2615184"/>
            <a:ext cx="256032" cy="256032"/>
          </a:xfrm>
          <a:prstGeom prst="ellipse">
            <a:avLst/>
          </a:prstGeom>
          <a:solidFill>
            <a:srgbClr val="C1922E"/>
          </a:solidFill>
          <a:ln/>
        </p:spPr>
      </p:sp>
      <p:sp>
        <p:nvSpPr>
          <p:cNvPr id="23" name="Text 21"/>
          <p:cNvSpPr/>
          <p:nvPr/>
        </p:nvSpPr>
        <p:spPr>
          <a:xfrm>
            <a:off x="8933688" y="20574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933688" y="310896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B3A5C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89720" y="3337560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189720" y="3931920"/>
            <a:ext cx="21396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D5D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updates, and improvements as sales grow.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LAUNCH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 day is the beginning — not the end.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Whichever plan you choose, you'll never wonder</a:t>
            </a:r>
            <a:endParaRPr lang="en-US" sz="2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“who do I call about my store?” again.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82296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partner. One point of contact. Zero guesswork.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06440" y="196596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221284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8484" y="2336292"/>
            <a:ext cx="210312" cy="21031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75120" y="21122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75120" y="240487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store, your products, your accounts — everything belongs to you.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806440" y="306324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035040" y="331012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8484" y="3433572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675120" y="32095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tech headaches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6675120" y="350215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it yourself with confidence — or let us handle it all. Easy either way.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806440" y="416052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35040" y="440740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484" y="4530852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430682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watched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6675120" y="459943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uptime, and sales health monitored continuously.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06440" y="5257800"/>
            <a:ext cx="576072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35040" y="5504688"/>
            <a:ext cx="457200" cy="457200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8484" y="5628132"/>
            <a:ext cx="210312" cy="21031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675120" y="540410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updates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6675120" y="5696712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Backups and safety updates applied before problems ever appear.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1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658368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 in-house team — no outsourcing, no handovers.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94360" y="17830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is an AI and web development studio with in-house development, design, and QA — delivering stores and platforms for clients across industries and countries.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3113532"/>
            <a:ext cx="283464" cy="2834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8680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who build fast, modern online stores that scale.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392424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66744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8476" y="3113532"/>
            <a:ext cx="283464" cy="2834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66744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Designers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66744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Specialists who turn your brand into a store people love to buy from.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6190488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64808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6540" y="3113532"/>
            <a:ext cx="283464" cy="2834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64808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security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64808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Server, backup, and security expertise for launches that just work.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988552" y="2651760"/>
            <a:ext cx="2615184" cy="2926080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62872" y="2971800"/>
            <a:ext cx="566928" cy="566928"/>
          </a:xfrm>
          <a:prstGeom prst="ellipse">
            <a:avLst/>
          </a:prstGeom>
          <a:solidFill>
            <a:srgbClr val="F2E9D8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4604" y="3113532"/>
            <a:ext cx="283464" cy="28346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62872" y="374904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9262872" y="4434840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multi-client portfolio across industries and international markets.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9692640" y="-1737360"/>
            <a:ext cx="4754880" cy="475488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6858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0058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 free store audit.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review how you sell today and show you exactly where you're losing sales — no obligation, no jargon.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4360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0358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968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Free audit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86968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review of how customers find you, browse, and buy today.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315968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303580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08576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Tailored proposal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608576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plan and scope — self-managed CMS or yearly maintenance.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37576" y="274320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24486E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303580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30184" y="3520440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We build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330184" y="3840480"/>
            <a:ext cx="29626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CC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kickoff to a live, selling store in ~6 weeks — you're in the loop at every step.</a:t>
            </a:r>
            <a:endParaRPr lang="en-US" sz="1100" dirty="0"/>
          </a:p>
        </p:txBody>
      </p:sp>
      <p:sp>
        <p:nvSpPr>
          <p:cNvPr id="45" name="Urgency Line"/>
          <p:cNvSpPr/>
          <p:nvPr/>
        </p:nvSpPr>
        <p:spPr>
          <a:xfrm>
            <a:off x="594360" y="4736000"/>
            <a:ext cx="11002975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only take on a handful of new builds each month — free audits booked first-come, first-served.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94360" y="502920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C1922E"/>
          </a:solidFill>
          <a:ln/>
        </p:spPr>
      </p:sp>
      <p:sp>
        <p:nvSpPr>
          <p:cNvPr id="21" name="Text 16"/>
          <p:cNvSpPr/>
          <p:nvPr/>
        </p:nvSpPr>
        <p:spPr>
          <a:xfrm>
            <a:off x="960120" y="502920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   </a:t>
            </a:r>
            <a:r>
              <a:rPr lang="en-US" sz="1400" dirty="0">
                <a:solidFill>
                  <a:srgbClr val="1228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hello@deepiotics.com    ·    www.deepiotics.com    ·    Atulya IT Park, Indore, India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120640" cy="5120640"/>
          </a:xfrm>
          <a:prstGeom prst="ellipse">
            <a:avLst/>
          </a:prstGeom>
          <a:solidFill>
            <a:srgbClr val="24486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4389120" cy="4389120"/>
          </a:xfrm>
          <a:prstGeom prst="ellipse">
            <a:avLst/>
          </a:prstGeom>
          <a:solidFill>
            <a:srgbClr val="C1922E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87452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0632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E4C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— Your Store, Open to the World.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0" y="3794760"/>
            <a:ext cx="868680" cy="0"/>
          </a:xfrm>
          <a:prstGeom prst="line">
            <a:avLst/>
          </a:prstGeom>
          <a:noFill/>
          <a:ln w="31750">
            <a:solidFill>
              <a:srgbClr val="C192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023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8D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hello@deepiotics.com    ·    www.deepiotics.com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 — reply to this proposal or book your free store audit today.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DEEPIOTICS  ·  WEB SOLUTIONS  ·  2026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5413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1884</Words>
  <Application>Microsoft Office PowerPoint</Application>
  <PresentationFormat>Widescreen</PresentationFormat>
  <Paragraphs>312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Deepiotics — Websites Built to Grow With You</dc:title>
  <dc:subject>PptxGenJS Presentation</dc:subject>
  <dc:creator>Deepiotics</dc:creator>
  <cp:lastModifiedBy>Shreya Chouhan</cp:lastModifiedBy>
  <cp:revision>2</cp:revision>
  <dcterms:created xsi:type="dcterms:W3CDTF">2026-07-02T10:01:16Z</dcterms:created>
  <dcterms:modified xsi:type="dcterms:W3CDTF">2026-07-07T10:28:41Z</dcterms:modified>
</cp:coreProperties>
</file>