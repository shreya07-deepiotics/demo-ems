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2448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457200"/>
            <a:ext cx="2743200" cy="2743200"/>
          </a:xfrm>
          <a:prstGeom prst="ellipse">
            <a:avLst/>
          </a:prstGeom>
          <a:solidFill>
            <a:srgbClr val="C1922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5120640"/>
            <a:ext cx="4206240" cy="4206240"/>
          </a:xfrm>
          <a:prstGeom prst="ellipse">
            <a:avLst/>
          </a:prstGeom>
          <a:solidFill>
            <a:srgbClr val="24486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PRESENTS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987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Website Should Work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Hard as You Do.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websites with true content ownership — or fully managed, end to end.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5074920"/>
            <a:ext cx="822960" cy="0"/>
          </a:xfrm>
          <a:prstGeom prst="line">
            <a:avLst/>
          </a:prstGeom>
          <a:noFill/>
          <a:ln w="31750">
            <a:solidFill>
              <a:srgbClr val="C19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PROPOSAL  ·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every business is an owner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something real.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too often, their website doesn't show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475488" cy="47548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2" y="259726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23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a template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72491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looks like everyone else's — a generic theme that hasn't changed in years.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3675888"/>
            <a:ext cx="475488" cy="47548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42" y="3804270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needs a developer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280160" y="3931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price, a photo, or an opening time means emails, waiting, and invoices.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882896"/>
            <a:ext cx="475488" cy="47548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501127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8371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come — and leave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280160" y="51389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arrives, but slow pages and unclear calls-to-action quietly turn leads away.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858000" y="2148840"/>
            <a:ext cx="4709160" cy="3337560"/>
          </a:xfrm>
          <a:prstGeom prst="roundRect">
            <a:avLst>
              <a:gd name="adj" fmla="val 2466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6060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24612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a real business.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website should prove it —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hide it.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26948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DEEPIOTICS STANDARD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AT SCALE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 websites are quietly losing money.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50392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judge a company's credibility by its website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Stanford Web Credibility Research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92424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21024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48456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mobile visits are abandoned if a page takes over 3 seconds to load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48456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0488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9088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46520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small business websites lack a clear call-to-action on the homepage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Small Business Trends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88552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17152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44584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won't recommend a business with a poorly designed mobile site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44584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SuperMonitoring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56235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research: Stanford University, Google mobile-speed research, Small Business Trends B2B website study, and SuperMonitoring mobile UX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bad website really costs you.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221992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898" y="2340498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222199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dependency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CMS means every small change is billable, slow, and out of your hands.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5968" y="1965960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221992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506" y="2340498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222199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on Google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0288" y="28346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SEO structure keeps you off the first page — competitors take the click.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37576" y="1965960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93608" y="2221992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114" y="2340498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78824" y="222199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on mobile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11896" y="28346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visitors arrive on a phone. If it's clumsy there, they never come back.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" y="3995928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0392" y="4251960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98" y="4370466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35608" y="42519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branding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68680" y="486460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that doesn't match your brand undermines trust before you ever speak.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15968" y="3995928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0" y="4251960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506" y="4370466"/>
            <a:ext cx="201900" cy="2019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57216" y="42519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maintenance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90288" y="486460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plugins and outdated code become a security and downtime risk.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037576" y="3995928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93608" y="4251960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114" y="4370466"/>
            <a:ext cx="201900" cy="2019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78824" y="42519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integrations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311896" y="486460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bookings, CRM, or smart forms — so your site never joins the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agencies deliver vs. what you actually need.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EDE6D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AGENCIES DELIVER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BUSINESS ACTUALLY NEEDS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77063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27432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with your logo dropped in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39242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33649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invoice, disappear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1421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44168" y="39867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SEO plugin installed — never configured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63600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4168" y="460857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documentation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257800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44168" y="52303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quote for every small change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77063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67728" y="27432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designed around your brand and goals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392424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67728" y="33649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who stays — or a true handover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4014216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67728" y="39867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built into the structure from day one</a:t>
            </a:r>
            <a:endParaRPr lang="en-US" sz="13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968" y="4636008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67728" y="460857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documentation, and real ownership</a:t>
            </a:r>
            <a:endParaRPr lang="en-US" sz="13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525780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67728" y="52303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costs you can plan around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vs. the Deepiotics way.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A8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55080" y="158191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DEEPIOTICS WAY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659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generic site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2212848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196596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9659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Custom-designed and fully on-brand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2798064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79806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over content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3044952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17920" y="279806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92240" y="279806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CMS — edit anything, anytime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4360" y="3630168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3630168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handoff, then silence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3877056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17920" y="363016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492240" y="3630168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 and partnership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94360" y="4462272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24" name="Text 19"/>
          <p:cNvSpPr/>
          <p:nvPr/>
        </p:nvSpPr>
        <p:spPr>
          <a:xfrm>
            <a:off x="868680" y="446227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bolt-on SEO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4709160"/>
            <a:ext cx="256032" cy="25603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217920" y="446227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492240" y="446227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SEO built into the site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94360" y="5294376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29" name="Text 23"/>
          <p:cNvSpPr/>
          <p:nvPr/>
        </p:nvSpPr>
        <p:spPr>
          <a:xfrm>
            <a:off x="868680" y="5294376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integrations</a:t>
            </a:r>
            <a:endParaRPr lang="en-US" sz="13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5541264"/>
            <a:ext cx="256032" cy="25603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217920" y="529437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6492240" y="529437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CRM, and forms built 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TWO SERVICE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In-house control — or fully handled. You choose.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94560"/>
            <a:ext cx="512064" cy="51206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" y="2332817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81912" y="2185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81912" y="2404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CMS Handover</a:t>
            </a:r>
            <a:endParaRPr lang="en-US" sz="1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7238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71016" y="3044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&amp; full site build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747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71016" y="3447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CMS — edit every page yourself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87705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71016" y="38496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training session + documentation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79392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71016" y="4251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structure &amp; analytics configured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681728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71016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of code and content</a:t>
            </a:r>
            <a:endParaRPr lang="en-US" sz="12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084064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71016" y="50566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post-launch support included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96012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teams that want day-to-day control in-house.</a:t>
            </a:r>
            <a:endParaRPr lang="en-US" sz="1150" dirty="0"/>
          </a:p>
        </p:txBody>
      </p:sp>
      <p:sp>
        <p:nvSpPr>
          <p:cNvPr id="24" name="Shape 15"/>
          <p:cNvSpPr/>
          <p:nvPr/>
        </p:nvSpPr>
        <p:spPr>
          <a:xfrm>
            <a:off x="6217920" y="18745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6537960" y="2194560"/>
            <a:ext cx="512064" cy="512064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217" y="2332817"/>
            <a:ext cx="235549" cy="23554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205472" y="2185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7205472" y="2404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Site Maintenance</a:t>
            </a:r>
            <a:endParaRPr lang="en-US" sz="19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072384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894576" y="3044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CMS Handover model</a:t>
            </a:r>
            <a:endParaRPr lang="en-US" sz="12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3474720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894576" y="3447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updates handled by our team</a:t>
            </a:r>
            <a:endParaRPr lang="en-US" sz="12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3877056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894576" y="38496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patches &amp; performance monitoring</a:t>
            </a:r>
            <a:endParaRPr lang="en-US" sz="12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4279392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894576" y="4251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on traffic and health</a:t>
            </a:r>
            <a:endParaRPr lang="en-US" sz="12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0" y="4681728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894576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with guaranteed response</a:t>
            </a:r>
            <a:endParaRPr lang="en-US" sz="12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0" y="5084064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894576" y="50566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improvements as you grow</a:t>
            </a:r>
            <a:endParaRPr lang="en-US" sz="1250" dirty="0"/>
          </a:p>
        </p:txBody>
      </p:sp>
      <p:sp>
        <p:nvSpPr>
          <p:cNvPr id="41" name="Text 25"/>
          <p:cNvSpPr/>
          <p:nvPr/>
        </p:nvSpPr>
        <p:spPr>
          <a:xfrm>
            <a:off x="658368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owners who want it handled — completely.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process, from first call to long after launch.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60146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Brand Audit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68680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study your business, brand, audience, and current site — and define what success looks like.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74136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48456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4" y="260146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34256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648456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&amp; Build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648456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design and a mobile-first build with SEO structure and integrations from day one.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53912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19" name="Shape 15"/>
          <p:cNvSpPr/>
          <p:nvPr/>
        </p:nvSpPr>
        <p:spPr>
          <a:xfrm>
            <a:off x="6428232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6014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14032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428232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Setup &amp; Training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428232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 over a tailored CMS with training — or kick off your maintenance plan instead.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933688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25" name="Shape 20"/>
          <p:cNvSpPr/>
          <p:nvPr/>
        </p:nvSpPr>
        <p:spPr>
          <a:xfrm>
            <a:off x="9208008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596" y="2601468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93808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9208008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Growth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9208008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improvements, monitoring, and advice as your business evolves.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build ships with the essentials — no upsell required.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104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672" y="2317272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32104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design shaped around your brand — never a template.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92424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736" y="2317272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build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30168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responsive, and tested on the devices your customers use.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0488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800" y="2317272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28232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28232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CMS tailored to your content — pages, photos, prices, posts.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988552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26296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9864" y="2317272"/>
            <a:ext cx="193487" cy="1934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6296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structure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26296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metadata, and speed that search engines reward.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94360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32104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672" y="4365528"/>
            <a:ext cx="193487" cy="1934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2104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832104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engines, CRM, payment and enquiry forms — connected.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392424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30168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736" y="4365528"/>
            <a:ext cx="193487" cy="1934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30168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guidance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3630168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hosting setup for performance, cost, and reliability.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190488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28232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800" y="4365528"/>
            <a:ext cx="193487" cy="193487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28232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6428232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international guests and clients in their own language.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8988552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226296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9864" y="4365528"/>
            <a:ext cx="193487" cy="193487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226296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9226296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what's working — visits, enquiries, conversions.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YOUR INDUSTRY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speak hospitality, coaching, and consulting.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40280"/>
            <a:ext cx="621792" cy="621792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</a:t>
            </a:r>
            <a:endParaRPr lang="en-US" sz="2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67588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657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 integrations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7880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160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guest experience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8172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content &amp; offers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18464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5166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Photo-led room &amp; venue pages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315968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636008" y="2240280"/>
            <a:ext cx="621792" cy="621792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239572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6008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</a:t>
            </a:r>
            <a:endParaRPr lang="en-US" sz="2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67588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56048" y="3657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&amp; CRM funnels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17880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56048" y="4160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curriculum pages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468172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956048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&amp; social proof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5184648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956048" y="5166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and booking flows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8037576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8357616" y="2240280"/>
            <a:ext cx="621792" cy="621792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3064" y="2395728"/>
            <a:ext cx="310896" cy="31089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357616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</a:t>
            </a:r>
            <a:endParaRPr lang="en-US" sz="21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5048" y="3675888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8677656" y="3657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Authority-building content</a:t>
            </a:r>
            <a:endParaRPr lang="en-US" sz="12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5048" y="4178808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8677656" y="4160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that convert</a:t>
            </a:r>
            <a:endParaRPr lang="en-US" sz="12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5048" y="4681728"/>
            <a:ext cx="182880" cy="18288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8677656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contact funnels</a:t>
            </a:r>
            <a:endParaRPr lang="en-US" sz="12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048" y="5184648"/>
            <a:ext cx="182880" cy="18288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8677656" y="5166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Thought-leadership publishing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builds across our core verticals.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028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Alpine Hotel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website with integrated booking engine, seasonal content management, and an interactive property map — serving guests in four languages.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5166360"/>
            <a:ext cx="2907792" cy="402336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6636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· Booking · CMS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6008" y="224028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36008" y="253288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 Platform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6008" y="3383280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Conversion-focused platform with CRM-integrated lead capture, structured program pages, and automated enquiry follow-up.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36008" y="5166360"/>
            <a:ext cx="2907792" cy="402336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008" y="516636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Lead Capture · Funnels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37576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57616" y="224028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57616" y="253288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 Education Platform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57616" y="3383280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curriculum pages with structured learning content, enrolment flows, and a content system the academic team runs themselves.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57616" y="5166360"/>
            <a:ext cx="2907792" cy="402336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516636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CMS · Curriculum · SEO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DEEPIOTICS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engineers. Run like a partnership.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35915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7802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234086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expertise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97180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and Next.js engineering for fast, modern, scalable sites.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5968" y="210312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35915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47802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234086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Cross-industry range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90288" y="297180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Hospitality, coaching, consulting, pharma, education — we've shipped it.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37576" y="210312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17" name="Shape 13"/>
          <p:cNvSpPr/>
          <p:nvPr/>
        </p:nvSpPr>
        <p:spPr>
          <a:xfrm>
            <a:off x="8293608" y="235915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47802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78824" y="234086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CMS craft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11896" y="297180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content systems ourselves — tailored, not bolted 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455164" y="402336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22" name="Shape 17"/>
          <p:cNvSpPr/>
          <p:nvPr/>
        </p:nvSpPr>
        <p:spPr>
          <a:xfrm>
            <a:off x="2711196" y="427939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068" y="439826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96412" y="426110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 delivery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2729484" y="489204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workflows cut build time without cutting quality.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76772" y="402336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27" name="Shape 21"/>
          <p:cNvSpPr/>
          <p:nvPr/>
        </p:nvSpPr>
        <p:spPr>
          <a:xfrm>
            <a:off x="6432804" y="427939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43982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18020" y="426110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model that stays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51092" y="489204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structured for the long term — not launch-and-leave.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 — no surprises.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332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9516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COVERED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11002975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Handover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1920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build fee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training package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95160" y="2029968"/>
            <a:ext cx="432785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&amp; build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CMS +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post-launch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11002975" cy="1234440"/>
          </a:xfrm>
          <a:prstGeom prst="roundRect">
            <a:avLst>
              <a:gd name="adj" fmla="val 5185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Maintenance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32918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annual retainer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95160" y="3401568"/>
            <a:ext cx="432785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CMS Handover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monitoring &amp;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663440"/>
            <a:ext cx="11002975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703320" y="46634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 project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95160" y="4773168"/>
            <a:ext cx="432785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 packages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CRM integrations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expansion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quotation provided after your free site audit — scoped to your goals, not a rate card.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six weeks — supported forever.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10271455" cy="0"/>
          </a:xfrm>
          <a:prstGeom prst="line">
            <a:avLst/>
          </a:prstGeom>
          <a:noFill/>
          <a:ln w="38100">
            <a:solidFill>
              <a:srgbClr val="D8CD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615184"/>
            <a:ext cx="256032" cy="2560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Design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0392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audit, sitemap, and design concepts approved by you.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615184"/>
            <a:ext cx="256032" cy="2560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74136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0168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30168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content migration, integrations, and testing.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91656" y="2615184"/>
            <a:ext cx="256032" cy="2560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153912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53912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9944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Handoff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9944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training and documentation — or maintenance kickoff.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71432" y="2615184"/>
            <a:ext cx="256032" cy="256032"/>
          </a:xfrm>
          <a:prstGeom prst="ellipse">
            <a:avLst/>
          </a:prstGeom>
          <a:solidFill>
            <a:srgbClr val="C1922E"/>
          </a:solidFill>
          <a:ln/>
        </p:spPr>
      </p:sp>
      <p:sp>
        <p:nvSpPr>
          <p:cNvPr id="23" name="Text 21"/>
          <p:cNvSpPr/>
          <p:nvPr/>
        </p:nvSpPr>
        <p:spPr>
          <a:xfrm>
            <a:off x="8933688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33688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89720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Growth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89720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updates, and improvements as you grow.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LAUNCH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day is the beginning — not the end.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Whichever model you choose, you'll never wonder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do I call about the website?” again.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822960" cy="0"/>
          </a:xfrm>
          <a:prstGeom prst="line">
            <a:avLst/>
          </a:prstGeom>
          <a:noFill/>
          <a:ln w="31750">
            <a:solidFill>
              <a:srgbClr val="C192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partner. One point of contact. Zero guesswork.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96596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221284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8484" y="2336292"/>
            <a:ext cx="210312" cy="210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0" y="21122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content ownership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75120" y="240487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site, your content, your accounts — with CMS Handover, everything is yours.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306324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31012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484" y="3433572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75120" y="3209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developer dependency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675120" y="350215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in-house with confidence — or let us handle it entirely. Peace of mind either way.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06440" y="416052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440740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84" y="4530852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4306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675120" y="45994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Uptime, speed, and conversion health watched continuously.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06440" y="525780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0" y="550468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484" y="5628132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120" y="5404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updates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675120" y="56967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Patches, backups, and updates applied before they become problems.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in-house team — no outsourcing, no handovers.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is an AI and web development studio with in-house development, design, and QA — delivering for clients across hospitality, education, consulting, and healthcare.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31135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&amp; Next.js engineers who build fast, maintainable, scalable sites.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92424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6744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311353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6744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66744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specialists who turn your brand into an experience that converts.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90488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64808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311353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deployment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64808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CI/CD, and infrastructure expertise for reliable launches.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88552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62872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311353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62872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track record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262872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multi-client portfolio across industries and international markets.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692640" y="-1737360"/>
            <a:ext cx="4754880" cy="4754880"/>
          </a:xfrm>
          <a:prstGeom prst="ellipse">
            <a:avLst/>
          </a:prstGeom>
          <a:solidFill>
            <a:srgbClr val="24486E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free site audit.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review your current website and show you exactly where you're losing leads — no obligation, no jargon.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2448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0358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352044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Free audit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" y="3840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review of your site's design, speed, SEO, and conversion paths.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274320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2448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30358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8576" y="352044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Tailored proposal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08576" y="3840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plan and quote for your goals — CMS handover or full maintenance.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37576" y="274320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2448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30358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352044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We build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30184" y="3840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kickoff to launch in ~6 weeks, with you in the loop at every step.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" y="50292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C1922E"/>
          </a:solidFill>
          <a:ln/>
        </p:spPr>
      </p:sp>
      <p:sp>
        <p:nvSpPr>
          <p:cNvPr id="21" name="Text 16"/>
          <p:cNvSpPr/>
          <p:nvPr/>
        </p:nvSpPr>
        <p:spPr>
          <a:xfrm>
            <a:off x="960120" y="502920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  </a:t>
            </a:r>
            <a:pPr indent="0" marL="0">
              <a:buNone/>
            </a:pPr>
            <a:r>
              <a:rPr lang="en-US" sz="1400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hello@deepiotics.com    ·    www.deepiotics.com    ·    Atulya IT Park, Indore, India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120640" cy="5120640"/>
          </a:xfrm>
          <a:prstGeom prst="ellipse">
            <a:avLst/>
          </a:prstGeom>
          <a:solidFill>
            <a:srgbClr val="2448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4389120" cy="4389120"/>
          </a:xfrm>
          <a:prstGeom prst="ellipse">
            <a:avLst/>
          </a:prstGeom>
          <a:solidFill>
            <a:srgbClr val="C1922E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— Websites Built to Grow With You.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0" y="3794760"/>
            <a:ext cx="868680" cy="0"/>
          </a:xfrm>
          <a:prstGeom prst="line">
            <a:avLst/>
          </a:prstGeom>
          <a:noFill/>
          <a:ln w="31750">
            <a:solidFill>
              <a:srgbClr val="C1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hello@deepiotics.com    ·    www.deepiotics.com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 — reply to this proposal or book your free site audit.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Deepiotics — Websites Built to Grow With You</dc:title>
  <dc:subject>PptxGenJS Presentation</dc:subject>
  <dc:creator>Deepiotics</dc:creator>
  <cp:lastModifiedBy>Deepiotics</cp:lastModifiedBy>
  <cp:revision>1</cp:revision>
  <dcterms:created xsi:type="dcterms:W3CDTF">2026-07-02T10:01:16Z</dcterms:created>
  <dcterms:modified xsi:type="dcterms:W3CDTF">2026-07-02T10:01:16Z</dcterms:modified>
</cp:coreProperties>
</file>